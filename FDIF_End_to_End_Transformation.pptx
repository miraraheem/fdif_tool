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0" d="100"/>
          <a:sy n="20" d="100"/>
        </p:scale>
        <p:origin x="48" y="8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mermaidchart.com/app/projects/abc7c500-446f-491e-ade7-a1a8f9e4a7a4/diagrams/fbbf3015-51b9-4928-aea9-6406452becc7/version/v0.1/edit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Homogenization &amp; Semantics – End-to-End Data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t>From Raw JSON to Digital Twin Mapping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title="mc-accessToken:fbbf3015-51b9-4928-aea9-6406452becc7:0:1">
            <a:hlinkClick r:id="rId2"/>
            <a:extLst>
              <a:ext uri="{FF2B5EF4-FFF2-40B4-BE49-F238E27FC236}">
                <a16:creationId xmlns:a16="http://schemas.microsoft.com/office/drawing/2014/main" id="{17773A86-B80F-4BE4-070F-BF4DA9925E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077" y="643466"/>
            <a:ext cx="349584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4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1: Raw Data Input (Unstructured JSON)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  <a:defRPr sz="1800"/>
            </a:pPr>
            <a:r>
              <a:rPr lang="en-US" sz="1700"/>
              <a:t>This is the raw data we receive from an IoT device:</a:t>
            </a:r>
            <a:br>
              <a:rPr lang="en-US" sz="1700"/>
            </a:br>
            <a:br>
              <a:rPr lang="en-US" sz="1700"/>
            </a:br>
            <a:r>
              <a:rPr lang="en-US" sz="1700"/>
              <a:t>{</a:t>
            </a:r>
            <a:br>
              <a:rPr lang="en-US" sz="1700"/>
            </a:br>
            <a:r>
              <a:rPr lang="en-US" sz="1700"/>
              <a:t>  "deviceId": "M-101",</a:t>
            </a:r>
            <a:br>
              <a:rPr lang="en-US" sz="1700"/>
            </a:br>
            <a:r>
              <a:rPr lang="en-US" sz="1700"/>
              <a:t>  "TMP": "296",</a:t>
            </a:r>
            <a:br>
              <a:rPr lang="en-US" sz="1700"/>
            </a:br>
            <a:r>
              <a:rPr lang="en-US" sz="1700"/>
              <a:t>  "unit": "K",</a:t>
            </a:r>
            <a:br>
              <a:rPr lang="en-US" sz="1700"/>
            </a:br>
            <a:r>
              <a:rPr lang="en-US" sz="1700"/>
              <a:t>  "timestamp": "2025-10-24T12:34:56Z",</a:t>
            </a:r>
            <a:br>
              <a:rPr lang="en-US" sz="1700"/>
            </a:br>
            <a:r>
              <a:rPr lang="en-US" sz="1700"/>
              <a:t>  "status": "ok",</a:t>
            </a:r>
            <a:br>
              <a:rPr lang="en-US" sz="1700"/>
            </a:br>
            <a:r>
              <a:rPr lang="en-US" sz="1700"/>
              <a:t>  "meta": {</a:t>
            </a:r>
            <a:br>
              <a:rPr lang="en-US" sz="1700"/>
            </a:br>
            <a:r>
              <a:rPr lang="en-US" sz="1700"/>
              <a:t>    "locationName": "Plant A",</a:t>
            </a:r>
            <a:br>
              <a:rPr lang="en-US" sz="1700"/>
            </a:br>
            <a:r>
              <a:rPr lang="en-US" sz="1700"/>
              <a:t>    "line": 3</a:t>
            </a:r>
            <a:br>
              <a:rPr lang="en-US" sz="1700"/>
            </a:br>
            <a:r>
              <a:rPr lang="en-US" sz="1700"/>
              <a:t>  }</a:t>
            </a:r>
            <a:br>
              <a:rPr lang="en-US" sz="1700"/>
            </a:br>
            <a:r>
              <a:rPr lang="en-US" sz="1700"/>
              <a:t>}</a:t>
            </a:r>
            <a:br>
              <a:rPr lang="en-US" sz="1700"/>
            </a:br>
            <a:br>
              <a:rPr lang="en-US" sz="1700"/>
            </a:br>
            <a:r>
              <a:rPr lang="en-US" sz="1700"/>
              <a:t>Problems:</a:t>
            </a:r>
            <a:br>
              <a:rPr lang="en-US" sz="1700"/>
            </a:br>
            <a:r>
              <a:rPr lang="en-US" sz="1700"/>
              <a:t>• Inconsistent field names (TMP, unit)</a:t>
            </a:r>
            <a:br>
              <a:rPr lang="en-US" sz="1700"/>
            </a:br>
            <a:r>
              <a:rPr lang="en-US" sz="1700"/>
              <a:t>• Mixed types (string numbers)</a:t>
            </a:r>
            <a:br>
              <a:rPr lang="en-US" sz="1700"/>
            </a:br>
            <a:r>
              <a:rPr lang="en-US" sz="1700"/>
              <a:t>• No semantic meaning or linkage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2: Schema Harmonizer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1800"/>
            </a:pPr>
            <a:r>
              <a:rPr lang="en-US" sz="1700"/>
              <a:t>The Schema Harmonizer renames and converts fields for uniformity.</a:t>
            </a:r>
            <a:br>
              <a:rPr lang="en-US" sz="1700"/>
            </a:br>
            <a:br>
              <a:rPr lang="en-US" sz="1700"/>
            </a:br>
            <a:r>
              <a:rPr lang="en-US" sz="1700"/>
              <a:t>Output:</a:t>
            </a:r>
            <a:br>
              <a:rPr lang="en-US" sz="1700"/>
            </a:br>
            <a:r>
              <a:rPr lang="en-US" sz="1700"/>
              <a:t>{</a:t>
            </a:r>
            <a:br>
              <a:rPr lang="en-US" sz="1700"/>
            </a:br>
            <a:r>
              <a:rPr lang="en-US" sz="1700"/>
              <a:t>  "deviceId": "M-101",</a:t>
            </a:r>
            <a:br>
              <a:rPr lang="en-US" sz="1700"/>
            </a:br>
            <a:r>
              <a:rPr lang="en-US" sz="1700"/>
              <a:t>  "temperature": 296.0,</a:t>
            </a:r>
            <a:br>
              <a:rPr lang="en-US" sz="1700"/>
            </a:br>
            <a:r>
              <a:rPr lang="en-US" sz="1700"/>
              <a:t>  "temperature_unit": "K",</a:t>
            </a:r>
            <a:br>
              <a:rPr lang="en-US" sz="1700"/>
            </a:br>
            <a:r>
              <a:rPr lang="en-US" sz="1700"/>
              <a:t>  "timestamp": "2025-10-24T12:34:56Z",</a:t>
            </a:r>
            <a:br>
              <a:rPr lang="en-US" sz="1700"/>
            </a:br>
            <a:r>
              <a:rPr lang="en-US" sz="1700"/>
              <a:t>  "status": "ok",</a:t>
            </a:r>
            <a:br>
              <a:rPr lang="en-US" sz="1700"/>
            </a:br>
            <a:r>
              <a:rPr lang="en-US" sz="1700"/>
              <a:t>  "location": {</a:t>
            </a:r>
            <a:br>
              <a:rPr lang="en-US" sz="1700"/>
            </a:br>
            <a:r>
              <a:rPr lang="en-US" sz="1700"/>
              <a:t>    "site": "Plant A",</a:t>
            </a:r>
            <a:br>
              <a:rPr lang="en-US" sz="1700"/>
            </a:br>
            <a:r>
              <a:rPr lang="en-US" sz="1700"/>
              <a:t>    "line": 3</a:t>
            </a:r>
            <a:br>
              <a:rPr lang="en-US" sz="1700"/>
            </a:br>
            <a:r>
              <a:rPr lang="en-US" sz="1700"/>
              <a:t>  }</a:t>
            </a:r>
            <a:br>
              <a:rPr lang="en-US" sz="1700"/>
            </a:br>
            <a:r>
              <a:rPr lang="en-US" sz="1700"/>
              <a:t>}</a:t>
            </a:r>
            <a:br>
              <a:rPr lang="en-US" sz="1700"/>
            </a:br>
            <a:br>
              <a:rPr lang="en-US" sz="1700"/>
            </a:br>
            <a:r>
              <a:rPr lang="en-US" sz="1700"/>
              <a:t>✅ Consistent structure</a:t>
            </a:r>
            <a:br>
              <a:rPr lang="en-US" sz="1700"/>
            </a:br>
            <a:r>
              <a:rPr lang="en-US" sz="1700"/>
              <a:t>✅ Correct types and field names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3: Ontology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1800"/>
            </a:pPr>
            <a:r>
              <a:rPr lang="en-US" sz="1700"/>
              <a:t>The ontology provides shared concepts and relationships.</a:t>
            </a:r>
            <a:br>
              <a:rPr lang="en-US" sz="1700"/>
            </a:br>
            <a:br>
              <a:rPr lang="en-US" sz="1700"/>
            </a:br>
            <a:r>
              <a:rPr lang="en-US" sz="1700"/>
              <a:t>Ontology defines:</a:t>
            </a:r>
            <a:br>
              <a:rPr lang="en-US" sz="1700"/>
            </a:br>
            <a:r>
              <a:rPr lang="en-US" sz="1700"/>
              <a:t>• 'temperature' as a type of SensorReading</a:t>
            </a:r>
            <a:br>
              <a:rPr lang="en-US" sz="1700"/>
            </a:br>
            <a:r>
              <a:rPr lang="en-US" sz="1700"/>
              <a:t>• Units allowed: C, F, K</a:t>
            </a:r>
            <a:br>
              <a:rPr lang="en-US" sz="1700"/>
            </a:br>
            <a:r>
              <a:rPr lang="en-US" sz="1700"/>
              <a:t>• Conversion rules between units</a:t>
            </a:r>
            <a:br>
              <a:rPr lang="en-US" sz="1700"/>
            </a:br>
            <a:r>
              <a:rPr lang="en-US" sz="1700"/>
              <a:t>• Relationships: SensorReading → Machine → Line → Site</a:t>
            </a:r>
            <a:br>
              <a:rPr lang="en-US" sz="1700"/>
            </a:br>
            <a:br>
              <a:rPr lang="en-US" sz="1700"/>
            </a:br>
            <a:r>
              <a:rPr lang="en-US" sz="1700"/>
              <a:t>Used by Validation and Tagging steps to ensure semantic consistency.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4: Validation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700"/>
          </a:p>
          <a:p>
            <a:pPr>
              <a:lnSpc>
                <a:spcPct val="90000"/>
              </a:lnSpc>
              <a:defRPr sz="1800"/>
            </a:pPr>
            <a:r>
              <a:rPr lang="en-US" sz="1700"/>
              <a:t>Checks both structure and semantic rules using JSON Schema + SHACL.</a:t>
            </a:r>
            <a:br>
              <a:rPr lang="en-US" sz="1700"/>
            </a:br>
            <a:br>
              <a:rPr lang="en-US" sz="1700"/>
            </a:br>
            <a:r>
              <a:rPr lang="en-US" sz="1700"/>
              <a:t>✅ Field types valid</a:t>
            </a:r>
            <a:br>
              <a:rPr lang="en-US" sz="1700"/>
            </a:br>
            <a:r>
              <a:rPr lang="en-US" sz="1700"/>
              <a:t>✅ Unit within ontology rules</a:t>
            </a:r>
            <a:br>
              <a:rPr lang="en-US" sz="1700"/>
            </a:br>
            <a:r>
              <a:rPr lang="en-US" sz="1700"/>
              <a:t>✅ Temperature converted to standard unit</a:t>
            </a:r>
            <a:br>
              <a:rPr lang="en-US" sz="1700"/>
            </a:br>
            <a:br>
              <a:rPr lang="en-US" sz="1700"/>
            </a:br>
            <a:r>
              <a:rPr lang="en-US" sz="1700"/>
              <a:t>Output:</a:t>
            </a:r>
            <a:br>
              <a:rPr lang="en-US" sz="1700"/>
            </a:br>
            <a:r>
              <a:rPr lang="en-US" sz="1700"/>
              <a:t>{</a:t>
            </a:r>
            <a:br>
              <a:rPr lang="en-US" sz="1700"/>
            </a:br>
            <a:r>
              <a:rPr lang="en-US" sz="1700"/>
              <a:t>  "deviceId": "M-101",</a:t>
            </a:r>
            <a:br>
              <a:rPr lang="en-US" sz="1700"/>
            </a:br>
            <a:r>
              <a:rPr lang="en-US" sz="1700"/>
              <a:t>  "temperature": 296.0,</a:t>
            </a:r>
            <a:br>
              <a:rPr lang="en-US" sz="1700"/>
            </a:br>
            <a:r>
              <a:rPr lang="en-US" sz="1700"/>
              <a:t>  "temperature_unit": "K",</a:t>
            </a:r>
            <a:br>
              <a:rPr lang="en-US" sz="1700"/>
            </a:br>
            <a:r>
              <a:rPr lang="en-US" sz="1700"/>
              <a:t>  "temperature_celsius": 22.85,</a:t>
            </a:r>
            <a:br>
              <a:rPr lang="en-US" sz="1700"/>
            </a:br>
            <a:r>
              <a:rPr lang="en-US" sz="1700"/>
              <a:t>  "timestamp": "2025-10-24T12:34:56Z",</a:t>
            </a:r>
            <a:br>
              <a:rPr lang="en-US" sz="1700"/>
            </a:br>
            <a:r>
              <a:rPr lang="en-US" sz="1700"/>
              <a:t>  "status": "ok",</a:t>
            </a:r>
            <a:br>
              <a:rPr lang="en-US" sz="1700"/>
            </a:br>
            <a:r>
              <a:rPr lang="en-US" sz="1700"/>
              <a:t>  "location": {</a:t>
            </a:r>
            <a:br>
              <a:rPr lang="en-US" sz="1700"/>
            </a:br>
            <a:r>
              <a:rPr lang="en-US" sz="1700"/>
              <a:t>    "site": "Plant A",</a:t>
            </a:r>
            <a:br>
              <a:rPr lang="en-US" sz="1700"/>
            </a:br>
            <a:r>
              <a:rPr lang="en-US" sz="1700"/>
              <a:t>    "line": 3</a:t>
            </a:r>
            <a:br>
              <a:rPr lang="en-US" sz="1700"/>
            </a:br>
            <a:r>
              <a:rPr lang="en-US" sz="1700"/>
              <a:t>  }</a:t>
            </a:r>
            <a:br>
              <a:rPr lang="en-US" sz="1700"/>
            </a:br>
            <a:r>
              <a:rPr lang="en-US" sz="170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5: Semantic Tagger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  <a:defRPr sz="1800"/>
            </a:pPr>
            <a:r>
              <a:rPr lang="en-US" sz="1400"/>
              <a:t>Attaches ontology-based labels to make data machine-interpretable (JSON-LD).</a:t>
            </a:r>
            <a:br>
              <a:rPr lang="en-US" sz="1400"/>
            </a:br>
            <a:br>
              <a:rPr lang="en-US" sz="1400"/>
            </a:br>
            <a:r>
              <a:rPr lang="en-US" sz="1400"/>
              <a:t>Output:</a:t>
            </a:r>
            <a:br>
              <a:rPr lang="en-US" sz="1400"/>
            </a:br>
            <a:r>
              <a:rPr lang="en-US" sz="1400"/>
              <a:t>{</a:t>
            </a:r>
            <a:br>
              <a:rPr lang="en-US" sz="1400"/>
            </a:br>
            <a:r>
              <a:rPr lang="en-US" sz="1400"/>
              <a:t>  "@context": {</a:t>
            </a:r>
            <a:br>
              <a:rPr lang="en-US" sz="1400"/>
            </a:br>
            <a:r>
              <a:rPr lang="en-US" sz="1400"/>
              <a:t>    "ex": "http://example.org/ontology#",</a:t>
            </a:r>
            <a:br>
              <a:rPr lang="en-US" sz="1400"/>
            </a:br>
            <a:r>
              <a:rPr lang="en-US" sz="1400"/>
              <a:t>    "deviceId": "ex:Machine/id",</a:t>
            </a:r>
            <a:br>
              <a:rPr lang="en-US" sz="1400"/>
            </a:br>
            <a:r>
              <a:rPr lang="en-US" sz="1400"/>
              <a:t>    "temperature_celsius": "ex:SensorReading/value",</a:t>
            </a:r>
            <a:br>
              <a:rPr lang="en-US" sz="1400"/>
            </a:br>
            <a:r>
              <a:rPr lang="en-US" sz="1400"/>
              <a:t>    "timestamp": "ex:Observation/time",</a:t>
            </a:r>
            <a:br>
              <a:rPr lang="en-US" sz="1400"/>
            </a:br>
            <a:r>
              <a:rPr lang="en-US" sz="1400"/>
              <a:t>    "location": "ex:Machine/locatedAt"</a:t>
            </a:r>
            <a:br>
              <a:rPr lang="en-US" sz="1400"/>
            </a:br>
            <a:r>
              <a:rPr lang="en-US" sz="1400"/>
              <a:t>  },</a:t>
            </a:r>
            <a:br>
              <a:rPr lang="en-US" sz="1400"/>
            </a:br>
            <a:r>
              <a:rPr lang="en-US" sz="1400"/>
              <a:t>  "@type": "ex:Observation",</a:t>
            </a:r>
            <a:br>
              <a:rPr lang="en-US" sz="1400"/>
            </a:br>
            <a:r>
              <a:rPr lang="en-US" sz="1400"/>
              <a:t>  "deviceId": "M-101",</a:t>
            </a:r>
            <a:br>
              <a:rPr lang="en-US" sz="1400"/>
            </a:br>
            <a:r>
              <a:rPr lang="en-US" sz="1400"/>
              <a:t>  "temperature_celsius": 22.85,</a:t>
            </a:r>
            <a:br>
              <a:rPr lang="en-US" sz="1400"/>
            </a:br>
            <a:r>
              <a:rPr lang="en-US" sz="1400"/>
              <a:t>  "timestamp": "2025-10-24T12:34:56Z",</a:t>
            </a:r>
            <a:br>
              <a:rPr lang="en-US" sz="1400"/>
            </a:br>
            <a:r>
              <a:rPr lang="en-US" sz="1400"/>
              <a:t>  "status": "ok",</a:t>
            </a:r>
            <a:br>
              <a:rPr lang="en-US" sz="1400"/>
            </a:br>
            <a:r>
              <a:rPr lang="en-US" sz="1400"/>
              <a:t>  "location": {</a:t>
            </a:r>
            <a:br>
              <a:rPr lang="en-US" sz="1400"/>
            </a:br>
            <a:r>
              <a:rPr lang="en-US" sz="1400"/>
              <a:t>    "site": "Plant A",</a:t>
            </a:r>
            <a:br>
              <a:rPr lang="en-US" sz="1400"/>
            </a:br>
            <a:r>
              <a:rPr lang="en-US" sz="1400"/>
              <a:t>    "line": 3</a:t>
            </a:r>
            <a:br>
              <a:rPr lang="en-US" sz="1400"/>
            </a:br>
            <a:r>
              <a:rPr lang="en-US" sz="1400"/>
              <a:t>  }</a:t>
            </a:r>
            <a:br>
              <a:rPr lang="en-US" sz="1400"/>
            </a:br>
            <a:r>
              <a:rPr lang="en-US" sz="1400"/>
              <a:t>}</a:t>
            </a:r>
            <a:br>
              <a:rPr lang="en-US" sz="1400"/>
            </a:br>
            <a:br>
              <a:rPr lang="en-US" sz="1400"/>
            </a:br>
            <a:r>
              <a:rPr lang="en-US" sz="1400"/>
              <a:t>✅ Adds meaning to each field</a:t>
            </a:r>
            <a:br>
              <a:rPr lang="en-US" sz="1400"/>
            </a:br>
            <a:r>
              <a:rPr lang="en-US" sz="1400"/>
              <a:t>✅ Enables cross-system understanding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Step 6: Blueprint Mapper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US" sz="1400"/>
          </a:p>
          <a:p>
            <a:pPr>
              <a:lnSpc>
                <a:spcPct val="90000"/>
              </a:lnSpc>
              <a:defRPr sz="1800"/>
            </a:pPr>
            <a:r>
              <a:rPr lang="en-US" sz="1400"/>
              <a:t>Maps semantic data to the digital twin structure defined by the blueprint.</a:t>
            </a:r>
            <a:br>
              <a:rPr lang="en-US" sz="1400"/>
            </a:br>
            <a:br>
              <a:rPr lang="en-US" sz="1400"/>
            </a:br>
            <a:r>
              <a:rPr lang="en-US" sz="1400"/>
              <a:t>Output:</a:t>
            </a:r>
            <a:br>
              <a:rPr lang="en-US" sz="1400"/>
            </a:br>
            <a:r>
              <a:rPr lang="en-US" sz="1400"/>
              <a:t>{</a:t>
            </a:r>
            <a:br>
              <a:rPr lang="en-US" sz="1400"/>
            </a:br>
            <a:r>
              <a:rPr lang="en-US" sz="1400"/>
              <a:t>  "machine": {</a:t>
            </a:r>
            <a:br>
              <a:rPr lang="en-US" sz="1400"/>
            </a:br>
            <a:r>
              <a:rPr lang="en-US" sz="1400"/>
              <a:t>    "id": "M-101",</a:t>
            </a:r>
            <a:br>
              <a:rPr lang="en-US" sz="1400"/>
            </a:br>
            <a:r>
              <a:rPr lang="en-US" sz="1400"/>
              <a:t>    "metadata": {</a:t>
            </a:r>
            <a:br>
              <a:rPr lang="en-US" sz="1400"/>
            </a:br>
            <a:r>
              <a:rPr lang="en-US" sz="1400"/>
              <a:t>      "location": {</a:t>
            </a:r>
            <a:br>
              <a:rPr lang="en-US" sz="1400"/>
            </a:br>
            <a:r>
              <a:rPr lang="en-US" sz="1400"/>
              <a:t>        "site": "Plant A",</a:t>
            </a:r>
            <a:br>
              <a:rPr lang="en-US" sz="1400"/>
            </a:br>
            <a:r>
              <a:rPr lang="en-US" sz="1400"/>
              <a:t>        "line": 3</a:t>
            </a:r>
            <a:br>
              <a:rPr lang="en-US" sz="1400"/>
            </a:br>
            <a:r>
              <a:rPr lang="en-US" sz="1400"/>
              <a:t>      }</a:t>
            </a:r>
            <a:br>
              <a:rPr lang="en-US" sz="1400"/>
            </a:br>
            <a:r>
              <a:rPr lang="en-US" sz="1400"/>
              <a:t>    },</a:t>
            </a:r>
            <a:br>
              <a:rPr lang="en-US" sz="1400"/>
            </a:br>
            <a:r>
              <a:rPr lang="en-US" sz="1400"/>
              <a:t>    "sensors": {</a:t>
            </a:r>
            <a:br>
              <a:rPr lang="en-US" sz="1400"/>
            </a:br>
            <a:r>
              <a:rPr lang="en-US" sz="1400"/>
              <a:t>      "temperature": {</a:t>
            </a:r>
            <a:br>
              <a:rPr lang="en-US" sz="1400"/>
            </a:br>
            <a:r>
              <a:rPr lang="en-US" sz="1400"/>
              <a:t>        "currentValue": 22.85,</a:t>
            </a:r>
            <a:br>
              <a:rPr lang="en-US" sz="1400"/>
            </a:br>
            <a:r>
              <a:rPr lang="en-US" sz="1400"/>
              <a:t>        "unit": "C",</a:t>
            </a:r>
            <a:br>
              <a:rPr lang="en-US" sz="1400"/>
            </a:br>
            <a:r>
              <a:rPr lang="en-US" sz="1400"/>
              <a:t>        "lastUpdated": "2025-10-24T12:34:56Z"</a:t>
            </a:r>
            <a:br>
              <a:rPr lang="en-US" sz="1400"/>
            </a:br>
            <a:r>
              <a:rPr lang="en-US" sz="1400"/>
              <a:t>      }</a:t>
            </a:r>
            <a:br>
              <a:rPr lang="en-US" sz="1400"/>
            </a:br>
            <a:r>
              <a:rPr lang="en-US" sz="1400"/>
              <a:t>    }</a:t>
            </a:r>
            <a:br>
              <a:rPr lang="en-US" sz="1400"/>
            </a:br>
            <a:r>
              <a:rPr lang="en-US" sz="1400"/>
              <a:t>  }</a:t>
            </a:r>
            <a:br>
              <a:rPr lang="en-US" sz="1400"/>
            </a:br>
            <a:r>
              <a:rPr lang="en-US" sz="1400"/>
              <a:t>}</a:t>
            </a:r>
            <a:br>
              <a:rPr lang="en-US" sz="1400"/>
            </a:br>
            <a:br>
              <a:rPr lang="en-US" sz="1400"/>
            </a:br>
            <a:r>
              <a:rPr lang="en-US" sz="1400"/>
              <a:t>✅ Data correctly placed in machine model</a:t>
            </a:r>
            <a:br>
              <a:rPr lang="en-US" sz="1400"/>
            </a:br>
            <a:r>
              <a:rPr lang="en-US" sz="1400"/>
              <a:t>✅ Ready for analytics and dashboards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End-to-End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defRPr sz="1800"/>
            </a:pPr>
            <a:r>
              <a:rPr lang="en-US" sz="1700"/>
              <a:t>• Raw data enters messy and inconsistent</a:t>
            </a:r>
            <a:br>
              <a:rPr lang="en-US" sz="1700"/>
            </a:br>
            <a:r>
              <a:rPr lang="en-US" sz="1700"/>
              <a:t>• Schema Harmonizer → unifies structure</a:t>
            </a:r>
            <a:br>
              <a:rPr lang="en-US" sz="1700"/>
            </a:br>
            <a:r>
              <a:rPr lang="en-US" sz="1700"/>
              <a:t>• Validation Engine → ensures correctness</a:t>
            </a:r>
            <a:br>
              <a:rPr lang="en-US" sz="1700"/>
            </a:br>
            <a:r>
              <a:rPr lang="en-US" sz="1700"/>
              <a:t>• Ontology → provides shared meaning</a:t>
            </a:r>
            <a:br>
              <a:rPr lang="en-US" sz="1700"/>
            </a:br>
            <a:r>
              <a:rPr lang="en-US" sz="1700"/>
              <a:t>• Semantic Tagger → adds contextual labels</a:t>
            </a:r>
            <a:br>
              <a:rPr lang="en-US" sz="1700"/>
            </a:br>
            <a:r>
              <a:rPr lang="en-US" sz="1700"/>
              <a:t>• Blueprint Mapper → connects to digital twin</a:t>
            </a:r>
            <a:br>
              <a:rPr lang="en-US" sz="1700"/>
            </a:br>
            <a:br>
              <a:rPr lang="en-US" sz="1700"/>
            </a:br>
            <a:r>
              <a:rPr lang="en-US" sz="1700"/>
              <a:t>Result: clean, meaningful, interoperable data ready for enterprise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790</Words>
  <Application>Microsoft Office PowerPoint</Application>
  <PresentationFormat>On-screen Show (4:3)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Homogenization &amp; Semantics – End-to-End Data Transformation</vt:lpstr>
      <vt:lpstr>PowerPoint Presentation</vt:lpstr>
      <vt:lpstr>Step 1: Raw Data Input (Unstructured JSON)</vt:lpstr>
      <vt:lpstr>Step 2: Schema Harmonizer</vt:lpstr>
      <vt:lpstr>Step 3: Ontology Reference</vt:lpstr>
      <vt:lpstr>Step 4: Validation Engine</vt:lpstr>
      <vt:lpstr>Step 5: Semantic Tagger</vt:lpstr>
      <vt:lpstr>Step 6: Blueprint Mapper</vt:lpstr>
      <vt:lpstr>End-to-End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Mira Raheem</dc:creator>
  <cp:keywords/>
  <dc:description>generated using python-pptx</dc:description>
  <cp:lastModifiedBy>Mira Raheem</cp:lastModifiedBy>
  <cp:revision>2</cp:revision>
  <dcterms:created xsi:type="dcterms:W3CDTF">2013-01-27T09:14:16Z</dcterms:created>
  <dcterms:modified xsi:type="dcterms:W3CDTF">2025-10-24T15:55:55Z</dcterms:modified>
  <cp:category/>
</cp:coreProperties>
</file>